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11"/>
  </p:notesMasterIdLst>
  <p:handoutMasterIdLst>
    <p:handoutMasterId r:id="rId12"/>
  </p:handoutMasterIdLst>
  <p:sldIdLst>
    <p:sldId id="256" r:id="rId2"/>
    <p:sldId id="293" r:id="rId3"/>
    <p:sldId id="280" r:id="rId4"/>
    <p:sldId id="298" r:id="rId5"/>
    <p:sldId id="299" r:id="rId6"/>
    <p:sldId id="297" r:id="rId7"/>
    <p:sldId id="294" r:id="rId8"/>
    <p:sldId id="296" r:id="rId9"/>
    <p:sldId id="29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56" autoAdjust="0"/>
    <p:restoredTop sz="94660"/>
  </p:normalViewPr>
  <p:slideViewPr>
    <p:cSldViewPr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39134B-6EA9-4ED3-962D-9AD456B91A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5163C-D952-45C1-BBBC-07F9E6FC4AB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CFA23-11E8-4C5D-9D6A-8BF897C03BEE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95E4B-BAE0-4747-A3B3-1C13E52586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804705-DBC4-4C7F-BFAD-CC24981639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8380-18BC-4B1D-BC9C-F9B2C0157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1349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F2D6876-F133-46D3-95E2-A34AD9BDC8CB}" type="datetimeFigureOut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DA40400-4F5E-4E00-9BB5-F457594CE7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64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Final Year Defense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09600" y="5951845"/>
            <a:ext cx="1538817" cy="411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63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3759200" y="0"/>
            <a:ext cx="84328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  <a:endParaRPr lang="en-US" b="1" dirty="0"/>
          </a:p>
        </p:txBody>
      </p:sp>
      <p:pic>
        <p:nvPicPr>
          <p:cNvPr id="6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6051" y="80964"/>
            <a:ext cx="2901949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 userDrawn="1"/>
        </p:nvSpPr>
        <p:spPr>
          <a:xfrm>
            <a:off x="914400" y="3200400"/>
            <a:ext cx="50800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Presented by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400800" y="3200400"/>
            <a:ext cx="5283200" cy="5334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/>
              <a:t>Supervised by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10363200" cy="1752600"/>
          </a:xfrm>
        </p:spPr>
        <p:txBody>
          <a:bodyPr/>
          <a:lstStyle>
            <a:lvl1pPr>
              <a:defRPr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5181600" cy="2209800"/>
          </a:xfrm>
        </p:spPr>
        <p:txBody>
          <a:bodyPr>
            <a:normAutofit/>
          </a:bodyPr>
          <a:lstStyle>
            <a:lvl1pPr marL="0" indent="0" algn="ctr">
              <a:buNone/>
              <a:defRPr sz="27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6400800" y="3886200"/>
            <a:ext cx="5283200" cy="2209800"/>
          </a:xfrm>
        </p:spPr>
        <p:txBody>
          <a:bodyPr>
            <a:normAutofit/>
          </a:bodyPr>
          <a:lstStyle>
            <a:lvl1pPr algn="ctr">
              <a:buNone/>
              <a:defRPr sz="270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254C3-6D07-4044-A98A-C7B9FCC216AA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AF6E4-9F0F-4D32-8D8E-755B2E69BA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304801" y="5943600"/>
            <a:ext cx="153881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 userDrawn="1"/>
        </p:nvSpPr>
        <p:spPr>
          <a:xfrm>
            <a:off x="2336801" y="5943600"/>
            <a:ext cx="98425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/>
              <a:t>Title Phase Evaluation</a:t>
            </a:r>
            <a:endParaRPr lang="en-US" b="1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12192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10972800" cy="396240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6">
                    <a:lumMod val="75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7AD9AE-DAF0-4070-950A-9E3660EBE497}" type="datetime1">
              <a:rPr lang="en-US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33A3-7515-47B8-9EDC-EE0892D9C8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5161A3-B757-4210-8554-6B2250A4A5D7}" type="datetime1">
              <a:rPr lang="en-US" smtClean="0"/>
              <a:pPr>
                <a:defRPr/>
              </a:pPr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01EAB7-4B8F-4B70-B0ED-2782ACD77B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58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638300" y="1219200"/>
            <a:ext cx="8915400" cy="99060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sz="4000" dirty="0">
                <a:solidFill>
                  <a:srgbClr val="7030A0"/>
                </a:solidFill>
              </a:rPr>
              <a:t>A Multimodal Deep Learning Framework for Automated Radiology Report Generation from X-ray Images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143000" y="3797432"/>
            <a:ext cx="4572000" cy="2057400"/>
          </a:xfrm>
        </p:spPr>
        <p:txBody>
          <a:bodyPr rtlCol="0">
            <a:normAutofit fontScale="77500" lnSpcReduction="20000"/>
          </a:bodyPr>
          <a:lstStyle/>
          <a:p>
            <a:pPr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Alauddin (ID: 0242310005101415)</a:t>
            </a:r>
          </a:p>
          <a:p>
            <a:pPr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Washema Anjum Ahona (ID: 0242310005101710)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>
              <a:defRPr/>
            </a:pPr>
            <a:r>
              <a:rPr lang="en-US" sz="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6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4100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6705600" y="3797432"/>
            <a:ext cx="4800600" cy="2057400"/>
          </a:xfrm>
        </p:spPr>
        <p:txBody>
          <a:bodyPr>
            <a:no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Rahmatul Kabir Rasel Sarker</a:t>
            </a:r>
          </a:p>
          <a:p>
            <a:r>
              <a:rPr lang="en-US" sz="2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itchFamily="18" charset="0"/>
              </a:rPr>
              <a:t>Senior Lecturer, Dept. of CSE, DIU </a:t>
            </a:r>
          </a:p>
          <a:p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Department of CSE </a:t>
            </a:r>
          </a:p>
          <a:p>
            <a:pPr eaLnBrk="1" hangingPunct="1"/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Daffodil International University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develop a multimodal deep learning system capable of automatically generating structured radiology reports from chest X-ray images.</a:t>
            </a:r>
          </a:p>
          <a:p>
            <a:endParaRPr lang="en-US" sz="3000" dirty="0"/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integrate a vision encoder (CNN/ViT) with a Transformer-based language decoder using cross-modal attention mechanisms.</a:t>
            </a:r>
          </a:p>
          <a:p>
            <a:pPr marL="0" indent="0">
              <a:buNone/>
            </a:pPr>
            <a:endParaRPr lang="en-US" sz="3000" dirty="0"/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 train and evaluate the system using standard NLP metrics: BLEU, ROUGE, and CIDEr.</a:t>
            </a:r>
          </a:p>
          <a:p>
            <a:pPr marL="0" indent="0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841805-6EA8-415D-8590-884098CA48F5}"/>
              </a:ext>
            </a:extLst>
          </p:cNvPr>
          <p:cNvSpPr/>
          <p:nvPr/>
        </p:nvSpPr>
        <p:spPr>
          <a:xfrm>
            <a:off x="8686800" y="5247056"/>
            <a:ext cx="723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Severe shortage of trained radiologists in developing regions like Bangladesh leads to delayed diagnoses and increased medical errors.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Manual radiology reporting is time-consuming, expertise-dependent, and burdened by growing patient volumes.</a:t>
            </a: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AI-powered automated report generation can assist radiologists and support intelligent clinical decision-making in resource-limited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5605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Background Study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CNNs (DenseNet, ResNet) and Vision Transformers (ViTs) have achieved near-human performance in detecting abnormalities in chest X-rays using self-attention mechanisms.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Transformer-based NLP models (GPT, BERT) combined with visual encoders enable automated medical image captioning and radiology report generation.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Datasets: MIMIC-CXR and IU X-Ray provide paired X-ray images and radiologist-authored reports. Models like R2Gen and CvT-212DisCo show promising results.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 local chest X-ray dataset was collected from a local clinic to add regional clinical context from Bangladesh.</a:t>
            </a:r>
          </a:p>
        </p:txBody>
      </p:sp>
    </p:spTree>
    <p:extLst>
      <p:ext uri="{BB962C8B-B14F-4D97-AF65-F5344CB8AC3E}">
        <p14:creationId xmlns:p14="http://schemas.microsoft.com/office/powerpoint/2010/main" val="674956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Gap Analysis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Most existing AI systems output only disease labels or probabilities, not complete structured clinical reports — failing to replicate actual radiologist workflow.</a:t>
            </a:r>
          </a:p>
          <a:p>
            <a:endParaRPr lang="en-US" sz="2600" dirty="0"/>
          </a:p>
          <a:p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Existing report generation models suffer from low clinical accuracy, lack of coherence, and poor generalizability across different imaging settings.</a:t>
            </a:r>
          </a:p>
          <a:p>
            <a:endParaRPr lang="en-US" sz="2600" dirty="0"/>
          </a:p>
          <a:p>
            <a:r>
              <a:rPr lang="en-US" sz="2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Limited work addresses deployment in low-resource environments or includes regional datasets from South Asia.</a:t>
            </a:r>
          </a:p>
        </p:txBody>
      </p:sp>
    </p:spTree>
    <p:extLst>
      <p:ext uri="{BB962C8B-B14F-4D97-AF65-F5344CB8AC3E}">
        <p14:creationId xmlns:p14="http://schemas.microsoft.com/office/powerpoint/2010/main" val="4225929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Vision Encoder: CNN (DenseNet/ResNet) or Vision Transformer (ViT) to extract visual features from chest X-ray images.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Cross-Modal Attention: Bridges visual and textual features to improve contextual coherence and clinical relevance of generated reports.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 Decoder: Transformer-based decoder generates structured reports (findings, impressions, recommendations) from encoded features.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Datasets: MIMIC-CXR, IU X-Ray, and locally collected Bangladeshi clinical chest X-ray data.</a:t>
            </a:r>
          </a:p>
        </p:txBody>
      </p:sp>
    </p:spTree>
    <p:extLst>
      <p:ext uri="{BB962C8B-B14F-4D97-AF65-F5344CB8AC3E}">
        <p14:creationId xmlns:p14="http://schemas.microsoft.com/office/powerpoint/2010/main" val="312282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Expected Outcomes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Automatically generate structured and clinically meaningful radiology reports from chest X-ray images, reducing radiologist workload.</a:t>
            </a:r>
          </a:p>
          <a:p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Achieve competitive BLEU, ROUGE, and CIDEr scores on MIMIC-CXR and IU X-Ray benchmarks.</a:t>
            </a:r>
          </a:p>
          <a:p>
            <a:endParaRPr lang="en-US" sz="3000" dirty="0"/>
          </a:p>
          <a:p>
            <a:r>
              <a:rPr lang="en-US" sz="3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Provide a prototype extendable into a web-based clinical decision support system for real-world, resource-limited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5664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991600" y="53340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cont..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A1D3E-BE5E-4DD9-8F0D-F0FF825AB0D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project proposes an end-to-end Multimodal Deep Learning Framework that integrates a vision encoder with a Transformer-based language decoder for automated radiology report generation.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incorporating locally collected Bangladeshi X-ray data and cross-modal attention, the model addresses key gaps in clinical accuracy, regional relevance, and low-resource deployment.</a:t>
            </a:r>
          </a:p>
          <a:p>
            <a:endParaRPr lang="en-US" sz="2200" dirty="0"/>
          </a:p>
          <a:p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framework is a step toward AI-driven automation in medical reporting for South Asia, aiming to reduce diagnostic delays and support clinicians in resource-limited settings.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247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b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60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  <a:p>
            <a:pPr marL="0" indent="0" algn="r">
              <a:buNone/>
            </a:pPr>
            <a:endParaRPr lang="en-US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4CD333A3-7515-47B8-9EDC-EE0892D9C861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516608"/>
      </p:ext>
    </p:extLst>
  </p:cSld>
  <p:clrMapOvr>
    <a:masterClrMapping/>
  </p:clrMapOvr>
</p:sld>
</file>

<file path=ppt/theme/theme1.xml><?xml version="1.0" encoding="utf-8"?>
<a:theme xmlns:a="http://schemas.openxmlformats.org/drawingml/2006/main" name="New Microsoft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New Microsoft PowerPoint Presentation</Template>
  <TotalTime>777</TotalTime>
  <Words>553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New Microsoft PowerPoint Presentation</vt:lpstr>
      <vt:lpstr>A Multimodal Deep Learning Framework for Automated Radiology Report Generation from X-ray Images</vt:lpstr>
      <vt:lpstr>Objective</vt:lpstr>
      <vt:lpstr>Motivation</vt:lpstr>
      <vt:lpstr>Background Study</vt:lpstr>
      <vt:lpstr>Gap Analysis</vt:lpstr>
      <vt:lpstr>Methodology</vt:lpstr>
      <vt:lpstr>Expected Outcomes</vt:lpstr>
      <vt:lpstr>Conclusion</vt:lpstr>
      <vt:lpstr>PowerPoint Presentation</vt:lpstr>
    </vt:vector>
  </TitlesOfParts>
  <Company>Acer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Valued Acer Customer</dc:creator>
  <cp:lastModifiedBy>Alauddin Al Azad</cp:lastModifiedBy>
  <cp:revision>243</cp:revision>
  <dcterms:created xsi:type="dcterms:W3CDTF">2011-07-17T02:56:35Z</dcterms:created>
  <dcterms:modified xsi:type="dcterms:W3CDTF">2026-04-19T19:12:39Z</dcterms:modified>
</cp:coreProperties>
</file>